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5d253b-84ad-14d2-51ed-d0f6129ef172}">
          <p14:sldIdLst>
            <p14:sldId id="256"/>
          </p14:sldIdLst>
        </p14:section>
        <p14:section name="Contexte et méthode" id="{512cdfba-4084-8b0e-b62f-aaaee3f06fcd}">
          <p14:sldIdLst>
            <p14:sldId id="257"/>
            <p14:sldId id="258"/>
          </p14:sldIdLst>
        </p14:section>
        <p14:section name="Analyse" id="{173cba2f-d0d8-3424-b309-66eabf9186c5}">
          <p14:sldIdLst>
            <p14:sldId id="259"/>
            <p14:sldId id="260"/>
            <p14:sldId id="261"/>
            <p14:sldId id="262"/>
            <p14:sldId id="263"/>
          </p14:sldIdLst>
        </p14:section>
        <p14:section name="Recommandations" id="{b73ab5a5-89d7-4d10-b1c8-26a012ee0b1b}">
          <p14:sldIdLst>
            <p14:sldId id="264"/>
          </p14:sldIdLst>
        </p14:section>
        <p14:section name="Conclusion" id="{5bf3f7bd-c761-909e-3cf1-0b60b60c5dd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73042" cy="12801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3898" y="0"/>
            <a:ext cx="4073042" cy="12801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7797" y="0"/>
            <a:ext cx="4073042" cy="12801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06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073042" cy="12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3898" y="0"/>
            <a:ext cx="4073042" cy="12801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797" y="0"/>
            <a:ext cx="4073042" cy="12801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31520" y="1234440"/>
            <a:ext cx="105156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6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073042" cy="12801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3898" y="0"/>
            <a:ext cx="4073042" cy="12801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7797" y="0"/>
            <a:ext cx="4073042" cy="128016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731520" y="123444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Territoires et inégalités d'accès au Togo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administration territoriale · Togo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ouvertes consolidées (recensement, électricité, CEET/TdE, état civil, identité) pour piloter l'action publique au plus près des 117 communes.</a:t>
            </a:r>
            <a:endParaRPr lang="en-US" sz="1800" dirty="0"/>
          </a:p>
        </p:txBody>
      </p:sp>
      <p:sp>
        <p:nvSpPr>
          <p:cNvPr id="5" name="Stat préfectures"/>
          <p:cNvSpPr/>
          <p:nvPr/>
        </p:nvSpPr>
        <p:spPr>
          <a:xfrm>
            <a:off x="731520" y="4754880"/>
            <a:ext cx="3337560" cy="1188720"/>
          </a:xfrm>
          <a:prstGeom prst="rect">
            <a:avLst/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8463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440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</a:t>
            </a:r>
            <a:endParaRPr lang="en-US" sz="1600" dirty="0"/>
          </a:p>
        </p:txBody>
      </p:sp>
      <p:sp>
        <p:nvSpPr>
          <p:cNvPr id="8" name="Stat communes"/>
          <p:cNvSpPr/>
          <p:nvPr/>
        </p:nvSpPr>
        <p:spPr>
          <a:xfrm>
            <a:off x="4343400" y="4754880"/>
            <a:ext cx="3337560" cy="1188720"/>
          </a:xfrm>
          <a:prstGeom prst="rect">
            <a:avLst/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48463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5440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communes</a:t>
            </a:r>
            <a:endParaRPr lang="en-US" sz="1600" dirty="0"/>
          </a:p>
        </p:txBody>
      </p:sp>
      <p:sp>
        <p:nvSpPr>
          <p:cNvPr id="11" name="Stat habitants (2022)"/>
          <p:cNvSpPr/>
          <p:nvPr/>
        </p:nvSpPr>
        <p:spPr>
          <a:xfrm>
            <a:off x="7955280" y="4754880"/>
            <a:ext cx="3337560" cy="1188720"/>
          </a:xfrm>
          <a:prstGeom prst="rect">
            <a:avLst/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48463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8 095 498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54406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(2022)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administration territoriale · Pipeline Bronze → Gold · Dashboard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Vue d'ensemble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Contexte et enjeux</a:t>
            </a:r>
            <a:endParaRPr lang="en-US" sz="3600" dirty="0"/>
          </a:p>
        </p:txBody>
      </p:sp>
      <p:sp>
        <p:nvSpPr>
          <p:cNvPr id="4" name="KPI Population 2022"/>
          <p:cNvSpPr/>
          <p:nvPr/>
        </p:nvSpPr>
        <p:spPr>
          <a:xfrm>
            <a:off x="502920" y="1554480"/>
            <a:ext cx="205374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Pastille Population 2022"/>
          <p:cNvSpPr/>
          <p:nvPr/>
        </p:nvSpPr>
        <p:spPr>
          <a:xfrm>
            <a:off x="685800" y="1719072"/>
            <a:ext cx="155448" cy="1554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38528"/>
            <a:ext cx="1779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8 095 498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1779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2022</a:t>
            </a:r>
            <a:endParaRPr lang="en-US" sz="1400" dirty="0"/>
          </a:p>
        </p:txBody>
      </p:sp>
      <p:sp>
        <p:nvSpPr>
          <p:cNvPr id="8" name="KPI Préfectures"/>
          <p:cNvSpPr/>
          <p:nvPr/>
        </p:nvSpPr>
        <p:spPr>
          <a:xfrm>
            <a:off x="2785262" y="1554480"/>
            <a:ext cx="205374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 Préfectures"/>
          <p:cNvSpPr/>
          <p:nvPr/>
        </p:nvSpPr>
        <p:spPr>
          <a:xfrm>
            <a:off x="2968142" y="1719072"/>
            <a:ext cx="155448" cy="1554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8142" y="1938528"/>
            <a:ext cx="1779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968142" y="2514600"/>
            <a:ext cx="1779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Préfectures</a:t>
            </a:r>
            <a:endParaRPr lang="en-US" sz="1400" dirty="0"/>
          </a:p>
        </p:txBody>
      </p:sp>
      <p:sp>
        <p:nvSpPr>
          <p:cNvPr id="12" name="KPI Agences CEET"/>
          <p:cNvSpPr/>
          <p:nvPr/>
        </p:nvSpPr>
        <p:spPr>
          <a:xfrm>
            <a:off x="5067605" y="1554480"/>
            <a:ext cx="205374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 Agences CEET"/>
          <p:cNvSpPr/>
          <p:nvPr/>
        </p:nvSpPr>
        <p:spPr>
          <a:xfrm>
            <a:off x="5250485" y="1719072"/>
            <a:ext cx="155448" cy="1554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0485" y="1938528"/>
            <a:ext cx="1779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250485" y="2514600"/>
            <a:ext cx="1779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CEET</a:t>
            </a:r>
            <a:endParaRPr lang="en-US" sz="1400" dirty="0"/>
          </a:p>
        </p:txBody>
      </p:sp>
      <p:sp>
        <p:nvSpPr>
          <p:cNvPr id="16" name="KPI Agences TdE"/>
          <p:cNvSpPr/>
          <p:nvPr/>
        </p:nvSpPr>
        <p:spPr>
          <a:xfrm>
            <a:off x="7349947" y="1554480"/>
            <a:ext cx="205374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 Agences TdE"/>
          <p:cNvSpPr/>
          <p:nvPr/>
        </p:nvSpPr>
        <p:spPr>
          <a:xfrm>
            <a:off x="7532827" y="1719072"/>
            <a:ext cx="155448" cy="1554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32827" y="1938528"/>
            <a:ext cx="1779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7532827" y="2514600"/>
            <a:ext cx="1779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TdE</a:t>
            </a:r>
            <a:endParaRPr lang="en-US" sz="1400" dirty="0"/>
          </a:p>
        </p:txBody>
      </p:sp>
      <p:sp>
        <p:nvSpPr>
          <p:cNvPr id="20" name="KPI Écart entre communes"/>
          <p:cNvSpPr/>
          <p:nvPr/>
        </p:nvSpPr>
        <p:spPr>
          <a:xfrm>
            <a:off x="9632290" y="1554480"/>
            <a:ext cx="205374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 Écart entre communes"/>
          <p:cNvSpPr/>
          <p:nvPr/>
        </p:nvSpPr>
        <p:spPr>
          <a:xfrm>
            <a:off x="9815170" y="1719072"/>
            <a:ext cx="155448" cy="1554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15170" y="1938528"/>
            <a:ext cx="17794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35×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9815170" y="2514600"/>
            <a:ext cx="17794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entre communes</a:t>
            </a:r>
            <a:endParaRPr lang="en-US" sz="1400" dirty="0"/>
          </a:p>
        </p:txBody>
      </p:sp>
      <p:sp>
        <p:nvSpPr>
          <p:cNvPr id="24" name="Carte question"/>
          <p:cNvSpPr/>
          <p:nvPr/>
        </p:nvSpPr>
        <p:spPr>
          <a:xfrm>
            <a:off x="502920" y="3246120"/>
            <a:ext cx="548640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tableau de bord répond à une question simple : où vivent les Togolais, et où l'accès aux services publics (électricité, agences CEET/TdE, état civil, identité) est-il le plus inégal ? Les chiffres proviennent de données ouvertes, consolidées en couche analytique gold (39 préfectures, 117 communes).</a:t>
            </a:r>
            <a:endParaRPr lang="en-US" sz="1800" dirty="0"/>
          </a:p>
        </p:txBody>
      </p:sp>
      <p:sp>
        <p:nvSpPr>
          <p:cNvPr id="27" name="Carte constat"/>
          <p:cNvSpPr/>
          <p:nvPr/>
        </p:nvSpPr>
        <p:spPr>
          <a:xfrm>
            <a:off x="6199632" y="3246120"/>
            <a:ext cx="5486400" cy="292608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27,0 %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population dans le Golfe et Agouè-Nyivé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4617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Golfe et Agouè-Nyivé concentrent environ 27,0 % de la population nationale. L'écart entre la commune la plus et la moins peuplée atteint 35 fois : la décentralisation doit s'appuyer sur des investissements différenciés.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territoriaux · Inégalités d'accès aux services publics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Pipeline de données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Méthodologie et fiabilité</a:t>
            </a:r>
            <a:endParaRPr lang="en-US" sz="3600" dirty="0"/>
          </a:p>
        </p:txBody>
      </p:sp>
      <p:sp>
        <p:nvSpPr>
          <p:cNvPr id="4" name="Étape Bronze"/>
          <p:cNvSpPr/>
          <p:nvPr/>
        </p:nvSpPr>
        <p:spPr>
          <a:xfrm>
            <a:off x="502920" y="1554480"/>
            <a:ext cx="2452878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Numéro Bronze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open data bruts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1995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recensement, CEET, TdE, état civil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01518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Étape Silver"/>
          <p:cNvSpPr/>
          <p:nvPr/>
        </p:nvSpPr>
        <p:spPr>
          <a:xfrm>
            <a:off x="3412998" y="1554480"/>
            <a:ext cx="2452878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Numéro Silver"/>
          <p:cNvSpPr/>
          <p:nvPr/>
        </p:nvSpPr>
        <p:spPr>
          <a:xfrm>
            <a:off x="3641598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4159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41598" y="237744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641598" y="2880360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typage, flags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41598" y="3520440"/>
            <a:ext cx="1995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homonymes, séries partielles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11596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Étape Ref"/>
          <p:cNvSpPr/>
          <p:nvPr/>
        </p:nvSpPr>
        <p:spPr>
          <a:xfrm>
            <a:off x="6323076" y="1554480"/>
            <a:ext cx="2452878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uméro Ref"/>
          <p:cNvSpPr/>
          <p:nvPr/>
        </p:nvSpPr>
        <p:spPr>
          <a:xfrm>
            <a:off x="6551676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167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51676" y="237744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551676" y="2880360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préfectures, 117 communes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51676" y="3520440"/>
            <a:ext cx="1995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libellés (Tandjoaré, Agouè-Nyivé…)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821674" y="2606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Étape Gold"/>
          <p:cNvSpPr/>
          <p:nvPr/>
        </p:nvSpPr>
        <p:spPr>
          <a:xfrm>
            <a:off x="9233154" y="1554480"/>
            <a:ext cx="2452878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Numéro Gold"/>
          <p:cNvSpPr/>
          <p:nvPr/>
        </p:nvSpPr>
        <p:spPr>
          <a:xfrm>
            <a:off x="9461754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6175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461754" y="2377440"/>
            <a:ext cx="1995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461754" y="2880360"/>
            <a:ext cx="19956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 analytiques, scores, recommandations 39/39</a:t>
            </a:r>
            <a:endParaRPr lang="en-US" sz="1600" dirty="0"/>
          </a:p>
        </p:txBody>
      </p:sp>
      <p:sp>
        <p:nvSpPr>
          <p:cNvPr id="30" name="Carte reproductibilité"/>
          <p:cNvSpPr/>
          <p:nvPr/>
        </p:nvSpPr>
        <p:spPr>
          <a:xfrm>
            <a:off x="502920" y="4434840"/>
            <a:ext cx="548640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data/bronze/clean_data.py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pipeline.gold.build</a:t>
            </a:r>
            <a:endParaRPr lang="en-US" sz="1500" dirty="0"/>
          </a:p>
        </p:txBody>
      </p:sp>
      <p:sp>
        <p:nvSpPr>
          <p:cNvPr id="33" name="Carte limites"/>
          <p:cNvSpPr/>
          <p:nvPr/>
        </p:nvSpPr>
        <p:spPr>
          <a:xfrm>
            <a:off x="6199632" y="4434840"/>
            <a:ext cx="5486400" cy="1600200"/>
          </a:xfrm>
          <a:prstGeom prst="rect">
            <a:avLst/>
          </a:prstGeom>
          <a:solidFill>
            <a:schemeClr val="accent3">
              <a:alpha val="8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73952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DOCUMENTÉES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5029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administratif 2010 vs 2022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source : plus de 100 % d'électricité sur certains territoires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 territoriale ref + alias · Traces silver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Démographie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Population 2022 par préfecture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3993471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barre correspond aux résidents recensés dans une préfecture. Le littoral (Golfe, Agouè-Nyivé, Zio) concentre une large part des habitants ; l'intérieur regroupe des territoires plus petits mais essentiels pour l'équité régionale.</a:t>
            </a:r>
            <a:endParaRPr lang="en-US" sz="1800" dirty="0"/>
          </a:p>
        </p:txBody>
      </p:sp>
      <p:sp>
        <p:nvSpPr>
          <p:cNvPr id="5" name="Note"/>
          <p:cNvSpPr/>
          <p:nvPr/>
        </p:nvSpPr>
        <p:spPr>
          <a:xfrm>
            <a:off x="502920" y="5074920"/>
            <a:ext cx="3993471" cy="109728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66360"/>
            <a:ext cx="353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le filtre Région pour zoomer sur une zone.</a:t>
            </a:r>
            <a:endParaRPr lang="en-US" sz="1600" dirty="0"/>
          </a:p>
        </p:txBody>
      </p:sp>
      <p:sp>
        <p:nvSpPr>
          <p:cNvPr id="7" name="Population 2022 par préfecture cadre"/>
          <p:cNvSpPr/>
          <p:nvPr/>
        </p:nvSpPr>
        <p:spPr>
          <a:xfrm>
            <a:off x="4825575" y="1563624"/>
            <a:ext cx="6897319" cy="464515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opulation 2022 par préfecture" descr="Population 2022 par préf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151" y="1600200"/>
            <a:ext cx="6824167" cy="4572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Plotly · Même charte que le dashboard Streamlit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Démographie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Poids national et croissance comparables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population nationale (2022) pour les territoires qui concentrent le plus d'habitants. Complète le graphique précédent en mettant en évidence le déséquilibre Littoral / intérieur. Le filtre Région s'applique à toute la page. Variation en pourcentage sur les préfectures comparables.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la population nationale (2022)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56832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2010-2022 (%)</a:t>
            </a:r>
            <a:endParaRPr lang="en-US" sz="1600" dirty="0"/>
          </a:p>
        </p:txBody>
      </p:sp>
      <p:sp>
        <p:nvSpPr>
          <p:cNvPr id="7" name="Part du Togo, top 12 préfectures cadre"/>
          <p:cNvSpPr/>
          <p:nvPr/>
        </p:nvSpPr>
        <p:spPr>
          <a:xfrm>
            <a:off x="466344" y="2843784"/>
            <a:ext cx="5102352" cy="29077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Part du Togo, top 12 préfectures" descr="Part du Togo, top 12 préfect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80360"/>
            <a:ext cx="5029200" cy="2834640"/>
          </a:xfrm>
          <a:prstGeom prst="rect">
            <a:avLst/>
          </a:prstGeom>
        </p:spPr>
      </p:pic>
      <p:sp>
        <p:nvSpPr>
          <p:cNvPr id="9" name="Variation 2010-2022, top 12 préfectures cadre"/>
          <p:cNvSpPr/>
          <p:nvPr/>
        </p:nvSpPr>
        <p:spPr>
          <a:xfrm>
            <a:off x="6620256" y="2843784"/>
            <a:ext cx="5102352" cy="290779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Variation 2010-2022, top 12 préfectures" descr="Variation 2010-2022, top 12 préfectu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880360"/>
            <a:ext cx="5029200" cy="2834640"/>
          </a:xfrm>
          <a:prstGeom prst="rect">
            <a:avLst/>
          </a:prstGeom>
        </p:spPr>
      </p:pic>
      <p:sp>
        <p:nvSpPr>
          <p:cNvPr id="11" name="Note priorité"/>
          <p:cNvSpPr/>
          <p:nvPr/>
        </p:nvSpPr>
        <p:spPr>
          <a:xfrm>
            <a:off x="502920" y="5806440"/>
            <a:ext cx="11183112" cy="50292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806440"/>
            <a:ext cx="10634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croissance rapide avec un accès aux services encore faible renforce la priorité d'action.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Démographie · Part du Togo (2022) et évolution 2010-2022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Services publics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Accès à l'électricité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3993471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d'accès au réseau basse tension par préfecture, avec code couleur par région. Les écarts avec le grand Lomé mettent en évidence la fracture territoriale.</a:t>
            </a:r>
            <a:endParaRPr lang="en-US" sz="1800" dirty="0"/>
          </a:p>
        </p:txBody>
      </p:sp>
      <p:sp>
        <p:nvSpPr>
          <p:cNvPr id="5" name="Note"/>
          <p:cNvSpPr/>
          <p:nvPr/>
        </p:nvSpPr>
        <p:spPr>
          <a:xfrm>
            <a:off x="502920" y="5074920"/>
            <a:ext cx="3993471" cy="1097280"/>
          </a:xfrm>
          <a:prstGeom prst="rect">
            <a:avLst/>
          </a:prstGeom>
          <a:solidFill>
            <a:schemeClr val="accent3">
              <a:alpha val="8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66360"/>
            <a:ext cx="3536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valeurs source dépassent 100 % : anomalie de définition à signaler en analyse.</a:t>
            </a:r>
            <a:endParaRPr lang="en-US" sz="1600" dirty="0"/>
          </a:p>
        </p:txBody>
      </p:sp>
      <p:sp>
        <p:nvSpPr>
          <p:cNvPr id="7" name="Accès à l'électricité cadre"/>
          <p:cNvSpPr/>
          <p:nvPr/>
        </p:nvSpPr>
        <p:spPr>
          <a:xfrm>
            <a:off x="4825575" y="1563624"/>
            <a:ext cx="6897319" cy="464515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ccès à l'électricité" descr="Accès à l'électrici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151" y="1600200"/>
            <a:ext cx="6824167" cy="4572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Plotly · Même charte que le dashboard Streamlit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Services publics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Proximité des guichets CEET et TdE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2022 divisée par le nombre d'agences CEET et TdE recensées. Un ratio élevé signifie que les usagers partagent peu de points d'accueil. Points géolocalisés à partir des coordonnées publiées. Les zones densément peuplées sans point visible sont des candidats à l'ouverture de guichets.</a:t>
            </a:r>
            <a:endParaRPr lang="en-US" sz="1600" dirty="0"/>
          </a:p>
        </p:txBody>
      </p:sp>
      <p:sp>
        <p:nvSpPr>
          <p:cNvPr id="5" name="Habitants par agence cadre"/>
          <p:cNvSpPr/>
          <p:nvPr/>
        </p:nvSpPr>
        <p:spPr>
          <a:xfrm>
            <a:off x="466344" y="2660904"/>
            <a:ext cx="6621170" cy="34564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Habitants par agence" descr="Habitants par ag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97480"/>
            <a:ext cx="6548018" cy="3383280"/>
          </a:xfrm>
          <a:prstGeom prst="rect">
            <a:avLst/>
          </a:prstGeom>
        </p:spPr>
      </p:pic>
      <p:sp>
        <p:nvSpPr>
          <p:cNvPr id="7" name="Carte des agences cadre"/>
          <p:cNvSpPr/>
          <p:nvPr/>
        </p:nvSpPr>
        <p:spPr>
          <a:xfrm>
            <a:off x="7420356" y="2660904"/>
            <a:ext cx="4302252" cy="34564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arte des agences" descr="Carte des agenc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932" y="2697480"/>
            <a:ext cx="4229100" cy="33832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publics · Électricité et agences CEET / TdE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État civil et identité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Capacité administrative d'enregistrement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civil et les documents d'identité reflètent la capacité de l'administration à enregistrer les naissances et à délivrer CNI, passeports et cartes professionnelles.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774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Naissances enregistrées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237744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d'identité</a:t>
            </a:r>
            <a:endParaRPr lang="en-US" sz="1600" dirty="0"/>
          </a:p>
        </p:txBody>
      </p:sp>
      <p:sp>
        <p:nvSpPr>
          <p:cNvPr id="7" name="Naissances enregistrées cadre"/>
          <p:cNvSpPr/>
          <p:nvPr/>
        </p:nvSpPr>
        <p:spPr>
          <a:xfrm>
            <a:off x="466344" y="2752344"/>
            <a:ext cx="5513832" cy="2645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Naissances enregistrées" descr="Naissances enregistr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88920"/>
            <a:ext cx="5440680" cy="2571958"/>
          </a:xfrm>
          <a:prstGeom prst="rect">
            <a:avLst/>
          </a:prstGeom>
        </p:spPr>
      </p:pic>
      <p:sp>
        <p:nvSpPr>
          <p:cNvPr id="9" name="Documents d'identité cadre"/>
          <p:cNvSpPr/>
          <p:nvPr/>
        </p:nvSpPr>
        <p:spPr>
          <a:xfrm>
            <a:off x="6208776" y="2752344"/>
            <a:ext cx="5513832" cy="2645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Documents d'identité" descr="Documents d'identit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2788920"/>
            <a:ext cx="5440680" cy="2571958"/>
          </a:xfrm>
          <a:prstGeom prst="rect">
            <a:avLst/>
          </a:prstGeom>
        </p:spPr>
      </p:pic>
      <p:sp>
        <p:nvSpPr>
          <p:cNvPr id="11" name="Note prudence"/>
          <p:cNvSpPr/>
          <p:nvPr/>
        </p:nvSpPr>
        <p:spPr>
          <a:xfrm>
            <a:off x="502920" y="5486400"/>
            <a:ext cx="11183112" cy="685800"/>
          </a:xfrm>
          <a:prstGeom prst="rect">
            <a:avLst/>
          </a:prstGeom>
          <a:solidFill>
            <a:schemeClr val="accent3">
              <a:alpha val="8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48640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série 2021 est partielle sur certains types de documents : prudence de lecture.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civil et identité · Sources silver/gold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Pilotage territorial</a:t>
            </a:r>
            <a:endParaRPr lang="en-US" sz="1400" dirty="0"/>
          </a:p>
        </p:txBody>
      </p:sp>
      <p:sp>
        <p:nvSpPr>
          <p:cNvPr id="3" name="Text 3"/>
          <p:cNvSpPr/>
          <p:nvPr>
            <p:ph idx="104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Recommandations prioritaires</a:t>
            </a:r>
            <a:endParaRPr lang="en-US" sz="3600" dirty="0"/>
          </a:p>
        </p:txBody>
      </p:sp>
      <p:sp>
        <p:nvSpPr>
          <p:cNvPr id="4" name="Scores de priorité par préfecture cadre"/>
          <p:cNvSpPr/>
          <p:nvPr/>
        </p:nvSpPr>
        <p:spPr>
          <a:xfrm>
            <a:off x="466344" y="1563624"/>
            <a:ext cx="6016752" cy="314401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cores de priorité par préfecture" descr="Scores de priorité par préfec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943600" cy="3070860"/>
          </a:xfrm>
          <a:prstGeom prst="rect">
            <a:avLst/>
          </a:prstGeom>
        </p:spPr>
      </p:pic>
      <p:sp>
        <p:nvSpPr>
          <p:cNvPr id="6" name="Note score"/>
          <p:cNvSpPr/>
          <p:nvPr/>
        </p:nvSpPr>
        <p:spPr>
          <a:xfrm>
            <a:off x="502920" y="4945380"/>
            <a:ext cx="5943600" cy="1226820"/>
          </a:xfrm>
          <a:prstGeom prst="rect">
            <a:avLst/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945380"/>
            <a:ext cx="5394960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gold : électricité, densité d'agences et croissance démographique 2010-2022.</a:t>
            </a:r>
            <a:endParaRPr lang="en-US" sz="1600" dirty="0"/>
          </a:p>
        </p:txBody>
      </p:sp>
      <p:sp>
        <p:nvSpPr>
          <p:cNvPr id="8" name="Reco Est-Mono"/>
          <p:cNvSpPr/>
          <p:nvPr/>
        </p:nvSpPr>
        <p:spPr>
          <a:xfrm>
            <a:off x="6675120" y="1600200"/>
            <a:ext cx="501091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170992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Est-Mono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score 56,6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130552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: extension réseau BT, branchements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: densifier (ratio hab./agence &gt; médiane)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: anticiper la forte croissance 2010-2022</a:t>
            </a:r>
            <a:endParaRPr lang="en-US" sz="1400" dirty="0"/>
          </a:p>
        </p:txBody>
      </p:sp>
      <p:sp>
        <p:nvSpPr>
          <p:cNvPr id="11" name="Reco Dankpen"/>
          <p:cNvSpPr/>
          <p:nvPr/>
        </p:nvSpPr>
        <p:spPr>
          <a:xfrm>
            <a:off x="6675120" y="3177540"/>
            <a:ext cx="501091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328726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Dankpen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score 55,8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3707892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: extension réseau BT, branchements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: densifier (ratio hab./agence &gt; médiane)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: anticiper la forte croissance 2010-2022</a:t>
            </a:r>
            <a:endParaRPr lang="en-US" sz="1400" dirty="0"/>
          </a:p>
        </p:txBody>
      </p:sp>
      <p:sp>
        <p:nvSpPr>
          <p:cNvPr id="14" name="Reco Kpendjal-Ouest"/>
          <p:cNvSpPr/>
          <p:nvPr/>
        </p:nvSpPr>
        <p:spPr>
          <a:xfrm>
            <a:off x="6675120" y="4754880"/>
            <a:ext cx="501091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03720" y="4864608"/>
            <a:ext cx="4553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Kpendjal-Ouest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score 54,3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5285232"/>
            <a:ext cx="4553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: extension réseau BT, branchements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Agences : ouvrir au moins une agence CEET ou TdE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63825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mart_recommandations.csv · Score composite gold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502920" y="347472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Synthèse</a:t>
            </a:r>
            <a:endParaRPr lang="en-US" sz="14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Conclusions et limites</a:t>
            </a:r>
            <a:endParaRPr lang="en-US" sz="3600" dirty="0"/>
          </a:p>
        </p:txBody>
      </p:sp>
      <p:sp>
        <p:nvSpPr>
          <p:cNvPr id="4" name="Carte TROIS ENSEIGNEMENTS"/>
          <p:cNvSpPr/>
          <p:nvPr/>
        </p:nvSpPr>
        <p:spPr>
          <a:xfrm>
            <a:off x="502920" y="1554480"/>
            <a:ext cx="5477256" cy="3429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ENSEIGNEMENTS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928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territoire est très inégal : littoral vs intérieur (communes et préfectures).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électricité et guichets CEET/TdE ne suivent pas la densité de population.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ciblées par préfecture via mart_recommandations et pipeline reproductible.</a:t>
            </a:r>
            <a:endParaRPr lang="en-US" sz="1800" dirty="0"/>
          </a:p>
        </p:txBody>
      </p:sp>
      <p:sp>
        <p:nvSpPr>
          <p:cNvPr id="7" name="Carte LIMITES DE L'ANALYSE"/>
          <p:cNvSpPr/>
          <p:nvPr/>
        </p:nvSpPr>
        <p:spPr>
          <a:xfrm>
            <a:off x="6208776" y="1554480"/>
            <a:ext cx="5477256" cy="3429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83096" y="173736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L'ANALYSE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83096" y="2194560"/>
            <a:ext cx="492861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2010-2022 partielle si le découpage administratif a changé.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identité 2021 incomplète ; taux électricité parfois &gt; 100 % (source).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d'orientation : compléter par validation terrain avant investissement.</a:t>
            </a:r>
            <a:endParaRPr lang="en-US" sz="1800" dirty="0"/>
          </a:p>
        </p:txBody>
      </p:sp>
      <p:sp>
        <p:nvSpPr>
          <p:cNvPr id="10" name="Bandeau GitHub"/>
          <p:cNvSpPr/>
          <p:nvPr/>
        </p:nvSpPr>
        <p:spPr>
          <a:xfrm>
            <a:off x="502920" y="5212080"/>
            <a:ext cx="11183112" cy="548640"/>
          </a:xfrm>
          <a:prstGeom prst="rect">
            <a:avLst/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4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21208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: TresorAlad/Defi-administration-territoriale-togo  ·  Dashboard Streamlit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85216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· Questions et échanges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6217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go Data Challenge">
  <a:themeElements>
    <a:clrScheme name="Togo Data Challenge">
      <a:dk1>
        <a:srgbClr val="1F2937"/>
      </a:dk1>
      <a:lt1>
        <a:srgbClr val="FFFFFF"/>
      </a:lt1>
      <a:dk2>
        <a:srgbClr val="006A4E"/>
      </a:dk2>
      <a:lt2>
        <a:srgbClr val="F9FAFB"/>
      </a:lt2>
      <a:accent1>
        <a:srgbClr val="006A4E"/>
      </a:accent1>
      <a:accent2>
        <a:srgbClr val="FFCE00"/>
      </a:accent2>
      <a:accent3>
        <a:srgbClr val="D21034"/>
      </a:accent3>
      <a:accent4>
        <a:srgbClr val="6B7280"/>
      </a:accent4>
      <a:accent5>
        <a:srgbClr val="E5E7EB"/>
      </a:accent5>
      <a:accent6>
        <a:srgbClr val="004D38"/>
      </a:accent6>
      <a:hlink>
        <a:srgbClr val="006A4E"/>
      </a:hlink>
      <a:folHlink>
        <a:srgbClr val="6B7280"/>
      </a:folHlink>
    </a:clrScheme>
    <a:fontScheme name="Togo Data Challeng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Territoires et inégalités d'accès au Togo</dc:title>
  <dc:subject>PptxGenJS Presentation</dc:subject>
  <dc:creator>Défi administration territoriale</dc:creator>
  <cp:lastModifiedBy>Défi administration territoriale</cp:lastModifiedBy>
  <cp:revision>1</cp:revision>
  <dcterms:created xsi:type="dcterms:W3CDTF">2026-10-25T18:41:25Z</dcterms:created>
  <dcterms:modified xsi:type="dcterms:W3CDTF">2026-10-25T18:41:25Z</dcterms:modified>
</cp:coreProperties>
</file>